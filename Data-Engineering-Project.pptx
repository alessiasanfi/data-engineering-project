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4630400" cy="8229600"/>
  <p:notesSz cx="8229600" cy="14630400"/>
  <p:embeddedFontLst>
    <p:embeddedFont>
      <p:font typeface="Brygada 1918"/>
      <p:regular r:id="rId20"/>
    </p:embeddedFont>
    <p:embeddedFont>
      <p:font typeface="Brygada 1918"/>
      <p:regular r:id="rId21"/>
    </p:embeddedFont>
    <p:embeddedFont>
      <p:font typeface="Brygada 1918"/>
      <p:regular r:id="rId22"/>
    </p:embeddedFont>
    <p:embeddedFont>
      <p:font typeface="Brygada 1918"/>
      <p:regular r:id="rId23"/>
    </p:embeddedFont>
    <p:embeddedFont>
      <p:font typeface="Montserrat Medium"/>
      <p:regular r:id="rId24"/>
    </p:embeddedFont>
    <p:embeddedFont>
      <p:font typeface="Montserrat Medium"/>
      <p:regular r:id="rId25"/>
    </p:embeddedFont>
    <p:embeddedFont>
      <p:font typeface="Montserrat Medium"/>
      <p:regular r:id="rId26"/>
    </p:embeddedFont>
    <p:embeddedFont>
      <p:font typeface="Montserrat Medium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6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5660" y="2960727"/>
            <a:ext cx="6905982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Data Engineering Project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35660" y="3759875"/>
            <a:ext cx="3611285" cy="428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650" b="1" i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Fase 1: requisiti bonus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35660" y="4509135"/>
            <a:ext cx="7645479" cy="685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Implementazione validazione Pandera nel Silver Layer</a:t>
            </a:r>
            <a:endParaRPr lang="en-US" sz="165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Integrazione assistente AI text-to-SQL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260" y="596741"/>
            <a:ext cx="7645479" cy="1284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Pandera: Data Quality Gate nel Layer Silver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49260" y="2141458"/>
            <a:ext cx="7645479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Pandera è una libreria cruciale per garantire l'integrità dei dati.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49260" y="2629257"/>
            <a:ext cx="7645479" cy="87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Viene applicata esclusivamente nel </a:t>
            </a:r>
            <a:pPr algn="l"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layer Silve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r, validando le informazioni dopo il processo di pulizia e prima del loro ingresso nel layer Gold, ed è integrata come task dedicato in Prefect.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49260" y="3702606"/>
            <a:ext cx="7645479" cy="1901309"/>
          </a:xfrm>
          <a:prstGeom prst="roundRect">
            <a:avLst>
              <a:gd name="adj" fmla="val 1520"/>
            </a:avLst>
          </a:prstGeom>
          <a:solidFill>
            <a:srgbClr val="5C2438"/>
          </a:solidFill>
          <a:ln w="22860">
            <a:solidFill>
              <a:srgbClr val="662E4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2120" y="3725466"/>
            <a:ext cx="770692" cy="1855589"/>
          </a:xfrm>
          <a:prstGeom prst="roundRect">
            <a:avLst>
              <a:gd name="adj" fmla="val 191"/>
            </a:avLst>
          </a:prstGeom>
          <a:solidFill>
            <a:srgbClr val="4D152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984" y="4508659"/>
            <a:ext cx="288965" cy="2889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16167" y="3918109"/>
            <a:ext cx="2569131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Cosa Controlla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716167" y="4343162"/>
            <a:ext cx="646307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Valori ammessi (es. 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order_status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)</a:t>
            </a:r>
            <a:endParaRPr lang="en-US" sz="150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Vincoli numerici (es. prezzi ≥ 0)</a:t>
            </a:r>
            <a:endParaRPr lang="en-US" sz="150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Chiavi critiche non nulle (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)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49260" y="5610701"/>
            <a:ext cx="7645479" cy="1855589"/>
          </a:xfrm>
          <a:prstGeom prst="roundRect">
            <a:avLst>
              <a:gd name="adj" fmla="val 1558"/>
            </a:avLst>
          </a:prstGeom>
          <a:solidFill>
            <a:srgbClr val="5C2438"/>
          </a:solidFill>
          <a:ln w="22860">
            <a:solidFill>
              <a:srgbClr val="662E4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72120" y="5633561"/>
            <a:ext cx="770692" cy="1809869"/>
          </a:xfrm>
          <a:prstGeom prst="roundRect">
            <a:avLst>
              <a:gd name="adj" fmla="val 191"/>
            </a:avLst>
          </a:prstGeom>
          <a:solidFill>
            <a:srgbClr val="4D152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2984" y="6393894"/>
            <a:ext cx="288965" cy="2889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16167" y="5826204"/>
            <a:ext cx="2569131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Perché è Importante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1716167" y="6251257"/>
            <a:ext cx="646307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Funziona da gate di qualità essenziale</a:t>
            </a:r>
            <a:endParaRPr lang="en-US" sz="150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Blocca la pipeline in caso di violazioni</a:t>
            </a:r>
            <a:endParaRPr lang="en-US" sz="150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Protegge dashboard e analisi da dati inconsistenti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935950"/>
            <a:ext cx="12700278" cy="678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Assistente Text-to-SQL: Interrogare il Gold Layer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49260" y="2000369"/>
            <a:ext cx="13131879" cy="317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 l'assistente AI integrato nella dashboard Streamlit, i dati diventano accessibili e interrogabili in linguaggio naturale.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49260" y="2534841"/>
            <a:ext cx="13131879" cy="317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È basato sul modello LLM Gemini di Google e permette agli utenti di esplorare i dati senza la necessità di scrivere query di SQL.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260" y="3141821"/>
            <a:ext cx="4339114" cy="542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Come Funziona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49260" y="3973949"/>
            <a:ext cx="203359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260" y="4296727"/>
            <a:ext cx="4248507" cy="2286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8" name="Text 6"/>
          <p:cNvSpPr/>
          <p:nvPr/>
        </p:nvSpPr>
        <p:spPr>
          <a:xfrm>
            <a:off x="749260" y="4444127"/>
            <a:ext cx="4248507" cy="677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Domanda in Linguaggio Naturale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49260" y="5237917"/>
            <a:ext cx="4248507" cy="951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L'utente inserisce una richiesta , come ad esempio: </a:t>
            </a:r>
            <a:pPr algn="l" indent="0" marL="0">
              <a:lnSpc>
                <a:spcPts val="2450"/>
              </a:lnSpc>
              <a:buNone/>
            </a:pPr>
            <a:r>
              <a:rPr lang="en-US" sz="1600" i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"Qual è il fatturato totale per ogni città?"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90887" y="3973949"/>
            <a:ext cx="203359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90887" y="4296727"/>
            <a:ext cx="4248507" cy="2286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12" name="Text 10"/>
          <p:cNvSpPr/>
          <p:nvPr/>
        </p:nvSpPr>
        <p:spPr>
          <a:xfrm>
            <a:off x="5190887" y="4444127"/>
            <a:ext cx="3994190" cy="338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Traduzione Intelligente in SQL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190887" y="4898946"/>
            <a:ext cx="4248507" cy="1608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L'intelligenza artificiale traduce la richiesta in una query SQL ottimizzata per DuckDB, puntando esclusivamente al Gold Layer (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gold.*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) e applicando regole semantiche predefinite per accuratezza.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32513" y="3973949"/>
            <a:ext cx="203359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32513" y="4296727"/>
            <a:ext cx="4248626" cy="2286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16" name="Text 14"/>
          <p:cNvSpPr/>
          <p:nvPr/>
        </p:nvSpPr>
        <p:spPr>
          <a:xfrm>
            <a:off x="9632513" y="4444127"/>
            <a:ext cx="4248626" cy="677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Esecuzione Sicura e Risultati Chari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632513" y="5237917"/>
            <a:ext cx="4248626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La query generata viene mostrata all'utente per trasparenza, eseguita in modalità </a:t>
            </a:r>
            <a:pPr algn="l" indent="0" marL="0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read-only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per garantire la sicurezza dei dati, e i risultati vengono convertiti in una tabella leggibile e facilmente comprensibile.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5660" y="3169325"/>
            <a:ext cx="6905982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Data Engineering Project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35660" y="3968472"/>
            <a:ext cx="4797743" cy="428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Fase 2: Pipeline Incrementale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35660" y="4717733"/>
            <a:ext cx="7645479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Evoluzione e ottimizzazione per una gestione dati più efficiente.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1525786"/>
            <a:ext cx="11196042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Obiettivo: Verso la Pipeline Incrementale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49260" y="2667476"/>
            <a:ext cx="13131879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Il focus è trasformare la pipeline batch in un sistema incrementale robusto e affidabile.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260" y="3250763"/>
            <a:ext cx="535186" cy="5351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1980" y="3250763"/>
            <a:ext cx="3078361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Incremental Ingestion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51980" y="3735943"/>
            <a:ext cx="3396139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Efficiente acquisizione dei soli dati nuovi o modificati.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5652" y="3250763"/>
            <a:ext cx="535186" cy="53518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18371" y="3250763"/>
            <a:ext cx="3266361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Separazione Processing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018371" y="3735943"/>
            <a:ext cx="3396258" cy="1369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Prima capisco cosa è cambiato nei file, poi aggiorno il database solo con ciò che serve.</a:t>
            </a:r>
            <a:endParaRPr lang="en-US" sz="16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82163" y="3250763"/>
            <a:ext cx="535186" cy="53518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84882" y="3250763"/>
            <a:ext cx="3236952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Idempotenza Garantita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0484882" y="3735943"/>
            <a:ext cx="3396258" cy="1027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Operazioni ripetibili con risultati consistenti, senza duplicati.</a:t>
            </a:r>
            <a:endParaRPr lang="en-US" sz="16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9260" y="5533787"/>
            <a:ext cx="535186" cy="53518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51980" y="5533787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Data Quality Gates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551980" y="6018967"/>
            <a:ext cx="3396139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Controlli stringenti per assicurare l'integrità dei dati.</a:t>
            </a:r>
            <a:endParaRPr lang="en-US" sz="16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15652" y="5533787"/>
            <a:ext cx="535186" cy="53518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018371" y="5533787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Analytics-Ready</a:t>
            </a:r>
            <a:endParaRPr lang="en-US" sz="2200" dirty="0"/>
          </a:p>
        </p:txBody>
      </p:sp>
      <p:sp>
        <p:nvSpPr>
          <p:cNvPr id="18" name="Text 11"/>
          <p:cNvSpPr/>
          <p:nvPr/>
        </p:nvSpPr>
        <p:spPr>
          <a:xfrm>
            <a:off x="6018371" y="6018967"/>
            <a:ext cx="3396258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Dati pre-elaborati e strutturati per l'analisi immediata.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669488"/>
            <a:ext cx="8169116" cy="535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Architettura Complessiva della Pipeline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749260" y="1445538"/>
            <a:ext cx="13131879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La pipeline è stratificata: ogni layer ha responsabilità specifiche per garantire coerenza e qualità.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60" y="2046565"/>
            <a:ext cx="6505694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9757" y="2648664"/>
            <a:ext cx="2140982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Raw CSV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09757" y="2988350"/>
            <a:ext cx="6184702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Fonte di dati grezzi e non elaborati, direttamente dai sistemi sorgente.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5327" y="1805702"/>
            <a:ext cx="6505813" cy="1143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35823" y="2407801"/>
            <a:ext cx="2605564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Landing Zone (Data Lake)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7535823" y="2747486"/>
            <a:ext cx="6184821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Area di atterraggio dei dati grezzi, convertiti in formato Parquet e suddivisi per mese per supportare l’ingestione incrementale.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60" y="3734872"/>
            <a:ext cx="6505694" cy="1143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9757" y="4336971"/>
            <a:ext cx="2140982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Bronze incremental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909757" y="4676656"/>
            <a:ext cx="618470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 dati vengono puliti, de-duplicati e standardizzati, ma ancora vicini al formato sorgente.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5327" y="3494008"/>
            <a:ext cx="6505813" cy="1143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35823" y="4096107"/>
            <a:ext cx="2140982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Silver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7535823" y="4435793"/>
            <a:ext cx="6184821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Dati trasformati, arricchiti e validati, pronti per analisi più complesse e per aggregazioni.</a:t>
            </a:r>
            <a:endParaRPr lang="en-US" sz="12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260" y="5647968"/>
            <a:ext cx="6505694" cy="11430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09757" y="6250067"/>
            <a:ext cx="2140982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Gold (Star Schema)</a:t>
            </a:r>
            <a:endParaRPr lang="en-US" sz="1650" dirty="0"/>
          </a:p>
        </p:txBody>
      </p:sp>
      <p:sp>
        <p:nvSpPr>
          <p:cNvPr id="18" name="Text 11"/>
          <p:cNvSpPr/>
          <p:nvPr/>
        </p:nvSpPr>
        <p:spPr>
          <a:xfrm>
            <a:off x="909757" y="6589752"/>
            <a:ext cx="618470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Dati modellati secondo lo Star Schema per la business intelligence, facili da interrogare.</a:t>
            </a:r>
            <a:endParaRPr lang="en-US" sz="12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5327" y="5407104"/>
            <a:ext cx="6505813" cy="11430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535823" y="6009203"/>
            <a:ext cx="2140982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Dashboard / App</a:t>
            </a:r>
            <a:endParaRPr lang="en-US" sz="1650" dirty="0"/>
          </a:p>
        </p:txBody>
      </p:sp>
      <p:sp>
        <p:nvSpPr>
          <p:cNvPr id="21" name="Text 13"/>
          <p:cNvSpPr/>
          <p:nvPr/>
        </p:nvSpPr>
        <p:spPr>
          <a:xfrm>
            <a:off x="7535823" y="6348889"/>
            <a:ext cx="6184821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Interfaccia read-only sul Gold Layer per analisi KPI e interrogazioni in linguaggio naturale.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749260" y="7335203"/>
            <a:ext cx="13131879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Questa architettura a strati garantisce la tracciabilità, la qualità e la fruibilità dei dati in ogni fase del processo.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650558"/>
            <a:ext cx="6571298" cy="535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Step 1: Landing Zone &amp; Manifest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749260" y="1818799"/>
            <a:ext cx="839855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Il primo passo converte i dati grezzi in un formato ottimizzato per l'elaborazione successiva e crea un "fingerprint" unico per ogni file.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49260" y="2376726"/>
            <a:ext cx="8398550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49260" y="2709863"/>
            <a:ext cx="8398550" cy="2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Script: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esplosione_dati.py</a:t>
            </a:r>
            <a:endParaRPr lang="en-US" sz="125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Processo: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CSV → Parquet</a:t>
            </a:r>
            <a:endParaRPr lang="en-US" sz="125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Dati: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Ordini splittati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per mese</a:t>
            </a:r>
            <a:endParaRPr lang="en-US" sz="125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Manifest: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Creazione di 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_manifest.json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per tracciare le modifiche dei file.</a:t>
            </a:r>
            <a:endParaRPr lang="en-US" sz="1250" dirty="0"/>
          </a:p>
          <a:p>
            <a:pPr algn="l" lvl="1" marL="685800" indent="-342900">
              <a:lnSpc>
                <a:spcPts val="1750"/>
              </a:lnSpc>
              <a:buSzPct val="100000"/>
              <a:buChar char="◦"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Lavora prima del database.</a:t>
            </a:r>
            <a:endParaRPr lang="en-US" sz="1250" dirty="0"/>
          </a:p>
          <a:p>
            <a:pPr algn="l" lvl="1" marL="685800" indent="-342900">
              <a:lnSpc>
                <a:spcPts val="1750"/>
              </a:lnSpc>
              <a:buSzPct val="100000"/>
              <a:buChar char="◦"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Funziona come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registro di controllo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dei dati prodotti e serve a capire se un file Parquet nella Landing Zone è nuovo o modificato.</a:t>
            </a:r>
            <a:endParaRPr lang="en-US" sz="1250" dirty="0"/>
          </a:p>
          <a:p>
            <a:pPr algn="l" lvl="1" marL="685800" indent="-342900">
              <a:lnSpc>
                <a:spcPts val="1750"/>
              </a:lnSpc>
              <a:buSzPct val="100000"/>
              <a:buChar char="◦"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Si basa sul nome del file e il fingerprint (hash del contenuto)</a:t>
            </a:r>
            <a:endParaRPr lang="en-US" sz="1250" dirty="0"/>
          </a:p>
          <a:p>
            <a:pPr algn="l" lvl="1" marL="685800" indent="-342900">
              <a:lnSpc>
                <a:spcPts val="1750"/>
              </a:lnSpc>
              <a:buSzPct val="100000"/>
              <a:buChar char="◦"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 ogni nuova esecuzione i dati vengono confrontati con il manifest:</a:t>
            </a:r>
            <a:endParaRPr lang="en-US" sz="1250" dirty="0"/>
          </a:p>
          <a:p>
            <a:pPr algn="l" lvl="2" marL="1028700" indent="-342900">
              <a:lnSpc>
                <a:spcPts val="1750"/>
              </a:lnSpc>
              <a:buSzPct val="100000"/>
              <a:buChar char="￭"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 il fingerprint è uguale→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il file non viene rigenerato</a:t>
            </a:r>
            <a:endParaRPr lang="en-US" sz="1250" dirty="0"/>
          </a:p>
          <a:p>
            <a:pPr algn="l" lvl="2" marL="1028700" indent="-342900">
              <a:lnSpc>
                <a:spcPts val="1750"/>
              </a:lnSpc>
              <a:buSzPct val="100000"/>
              <a:buChar char="￭"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 il fingerprint cambia →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il file viene aggiornato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9833" y="1501735"/>
            <a:ext cx="3256121" cy="43414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260" y="5704366"/>
            <a:ext cx="13131879" cy="1465064"/>
          </a:xfrm>
          <a:prstGeom prst="roundRect">
            <a:avLst>
              <a:gd name="adj" fmla="val 7490"/>
            </a:avLst>
          </a:prstGeom>
          <a:solidFill>
            <a:srgbClr val="5C2438"/>
          </a:solidFill>
          <a:ln w="22860">
            <a:solidFill>
              <a:srgbClr val="662E4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6400" y="5704366"/>
            <a:ext cx="91440" cy="1465064"/>
          </a:xfrm>
          <a:prstGeom prst="roundRect">
            <a:avLst>
              <a:gd name="adj" fmla="val 26342"/>
            </a:avLst>
          </a:prstGeom>
          <a:solidFill>
            <a:srgbClr val="FFB393"/>
          </a:solidFill>
          <a:ln/>
        </p:spPr>
      </p:sp>
      <p:sp>
        <p:nvSpPr>
          <p:cNvPr id="9" name="Text 6"/>
          <p:cNvSpPr/>
          <p:nvPr/>
        </p:nvSpPr>
        <p:spPr>
          <a:xfrm>
            <a:off x="1001197" y="5887723"/>
            <a:ext cx="2140982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Concetti chiave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01197" y="6227408"/>
            <a:ext cx="12696587" cy="67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Fingerprint dei dati</a:t>
            </a:r>
            <a:endParaRPr lang="en-US" sz="125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File immutati →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skip</a:t>
            </a:r>
            <a:endParaRPr lang="en-US" sz="125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Base dell’incrementalità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697706"/>
            <a:ext cx="5827990" cy="535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Step 2: Bronze Incrementale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749260" y="1473756"/>
            <a:ext cx="13131879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Questo è il cuore della strategia incrementale, dove il database cresce solo con dati nuovi e significativi.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49260" y="1833920"/>
            <a:ext cx="13131879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 questa fase la pipeline passa da “rigenero tutto” a “aggiorno solo ciò che serve”</a:t>
            </a:r>
            <a:endParaRPr lang="en-US" sz="1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9034" y="2329458"/>
            <a:ext cx="6298882" cy="37792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47146" y="3057882"/>
            <a:ext cx="4341495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Script: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bronze_incremental.py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547146" y="3406259"/>
            <a:ext cx="4341495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547146" y="3739396"/>
            <a:ext cx="4341495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Caricamento: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In DuckDB (schema bronze)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547146" y="4072533"/>
            <a:ext cx="4341495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547146" y="4405670"/>
            <a:ext cx="4341495" cy="89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Logica: 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inserire solo gli ordini realmente nuovi.</a:t>
            </a:r>
            <a:endParaRPr lang="en-US" sz="1250" dirty="0"/>
          </a:p>
          <a:p>
            <a:pPr algn="l" lvl="1" marL="685800" indent="-342900">
              <a:lnSpc>
                <a:spcPts val="1750"/>
              </a:lnSpc>
              <a:buSzPct val="100000"/>
              <a:buChar char="◦"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Orders: incrementale per 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(chiave)</a:t>
            </a:r>
            <a:endParaRPr lang="en-US" sz="1250" dirty="0"/>
          </a:p>
          <a:p>
            <a:pPr algn="l" lvl="1" marL="685800" indent="-342900">
              <a:lnSpc>
                <a:spcPts val="1750"/>
              </a:lnSpc>
              <a:buSzPct val="100000"/>
              <a:buChar char="◦"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Order_items: solo per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nuovi ordini</a:t>
            </a:r>
            <a:endParaRPr lang="en-US" sz="1250" dirty="0"/>
          </a:p>
          <a:p>
            <a:pPr algn="l" lvl="1" marL="685800" indent="-342900">
              <a:lnSpc>
                <a:spcPts val="1750"/>
              </a:lnSpc>
              <a:buSzPct val="100000"/>
              <a:buChar char="◦"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Customers/products: replace solo se cambiano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49260" y="6237877"/>
            <a:ext cx="13131879" cy="1152406"/>
          </a:xfrm>
          <a:prstGeom prst="roundRect">
            <a:avLst>
              <a:gd name="adj" fmla="val 2090"/>
            </a:avLst>
          </a:prstGeom>
          <a:solidFill>
            <a:srgbClr val="4D1529"/>
          </a:solidFill>
          <a:ln/>
        </p:spPr>
      </p:sp>
      <p:sp>
        <p:nvSpPr>
          <p:cNvPr id="12" name="Text 9"/>
          <p:cNvSpPr/>
          <p:nvPr/>
        </p:nvSpPr>
        <p:spPr>
          <a:xfrm>
            <a:off x="909757" y="6398373"/>
            <a:ext cx="2140982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Concetti chiave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909757" y="6738058"/>
            <a:ext cx="12810887" cy="449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 rilanci la pipeline, gli stessi ordini non vengono reinseriti</a:t>
            </a:r>
            <a:endParaRPr lang="en-US" sz="125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 un mese viene riprocessato (stesso contenuto), viene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skippato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grazie al fingerprint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260" y="611624"/>
            <a:ext cx="7645479" cy="1284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Order Items: Incrementale "Intelligente"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49260" y="2156341"/>
            <a:ext cx="7645479" cy="901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Per gestire al meglio gli 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order_items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(che è un parquet completo, non mensilizzato), ho adottato una strategia che evita di ricaricare l'intero set di dati ad ogni esecuzione.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49260" y="3252549"/>
            <a:ext cx="7645479" cy="2050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0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order_items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è un parquet completo, ma non viene ricaricato tutto ogni volta.</a:t>
            </a:r>
            <a:endParaRPr lang="en-US" sz="150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0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Strategia:</a:t>
            </a:r>
            <a:endParaRPr lang="en-US" sz="1500" dirty="0"/>
          </a:p>
          <a:p>
            <a:pPr algn="l" lvl="1" marL="685800" indent="-342900">
              <a:lnSpc>
                <a:spcPts val="2300"/>
              </a:lnSpc>
              <a:buSzPct val="100000"/>
              <a:buChar char="◦"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Identificazione dei </a:t>
            </a:r>
            <a:pPr algn="l"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nuovi order_id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inseriti.</a:t>
            </a:r>
            <a:endParaRPr lang="en-US" sz="1500" dirty="0"/>
          </a:p>
          <a:p>
            <a:pPr algn="l" lvl="1" marL="685800" indent="-342900">
              <a:lnSpc>
                <a:spcPts val="2300"/>
              </a:lnSpc>
              <a:buSzPct val="100000"/>
              <a:buChar char="◦"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Legge 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order_items.parquet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e prende solo le righe con quegli order_id</a:t>
            </a:r>
            <a:endParaRPr lang="en-US" sz="1500" dirty="0"/>
          </a:p>
          <a:p>
            <a:pPr algn="l" lvl="1" marL="685800" indent="-342900">
              <a:lnSpc>
                <a:spcPts val="2300"/>
              </a:lnSpc>
              <a:buSzPct val="100000"/>
              <a:buChar char="◦"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Applicazione di un meccanismo anti-duplicato su PK composita (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order_id, order_item_id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).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49260" y="5497830"/>
            <a:ext cx="7645479" cy="1809869"/>
          </a:xfrm>
          <a:prstGeom prst="roundRect">
            <a:avLst>
              <a:gd name="adj" fmla="val 1597"/>
            </a:avLst>
          </a:prstGeom>
          <a:solidFill>
            <a:srgbClr val="4D1529"/>
          </a:solidFill>
          <a:ln/>
        </p:spPr>
      </p:sp>
      <p:sp>
        <p:nvSpPr>
          <p:cNvPr id="7" name="Shape 4"/>
          <p:cNvSpPr/>
          <p:nvPr/>
        </p:nvSpPr>
        <p:spPr>
          <a:xfrm>
            <a:off x="749260" y="5497830"/>
            <a:ext cx="7645479" cy="1809869"/>
          </a:xfrm>
          <a:prstGeom prst="roundRect">
            <a:avLst>
              <a:gd name="adj" fmla="val 1597"/>
            </a:avLst>
          </a:prstGeom>
          <a:solidFill>
            <a:srgbClr val="4D1529"/>
          </a:solidFill>
          <a:ln/>
        </p:spPr>
      </p:sp>
      <p:sp>
        <p:nvSpPr>
          <p:cNvPr id="8" name="Text 5"/>
          <p:cNvSpPr/>
          <p:nvPr/>
        </p:nvSpPr>
        <p:spPr>
          <a:xfrm>
            <a:off x="941903" y="5690473"/>
            <a:ext cx="2569131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Benefici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41903" y="6115526"/>
            <a:ext cx="7260193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performance: carichi solo la fetta rilevante</a:t>
            </a:r>
            <a:endParaRPr lang="en-US" sz="150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coerenza: items presenti e orders presenti</a:t>
            </a:r>
            <a:endParaRPr lang="en-US" sz="150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idempotenza: rilanciare non sporca la tabella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759381"/>
            <a:ext cx="6801207" cy="535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Tracking Tecnico &amp; Idempotenza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749260" y="1535430"/>
            <a:ext cx="13131879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Una "memoria" interna della pipeline che permette di sapere se un file è già stato processato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dal database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, garantendo affidabilità e tracciabilità.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49260" y="2015966"/>
            <a:ext cx="4341495" cy="65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Tabella Tecnica: </a:t>
            </a:r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tech.tech_processed_files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260" y="2793802"/>
            <a:ext cx="4341495" cy="89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Tabella di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tracking tecnico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della pipeline</a:t>
            </a:r>
            <a:endParaRPr lang="en-US" sz="125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Registra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ogni file processato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durante l’ingestione incrementale (bronze_incremental.py)</a:t>
            </a:r>
            <a:endParaRPr lang="en-US" sz="125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È il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cuore dell’idempotenza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della pipeline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9260" y="3801382"/>
            <a:ext cx="4341495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Traccia: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260" y="4134518"/>
            <a:ext cx="4341495" cy="1573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685800" indent="-342900">
              <a:lnSpc>
                <a:spcPts val="1750"/>
              </a:lnSpc>
              <a:buSzPct val="100000"/>
              <a:buChar char="◦"/>
            </a:pPr>
            <a:r>
              <a:rPr lang="en-US" sz="125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file_name</a:t>
            </a:r>
            <a:endParaRPr lang="en-US" sz="1250" dirty="0"/>
          </a:p>
          <a:p>
            <a:pPr algn="l" lvl="1" marL="685800" indent="-342900">
              <a:lnSpc>
                <a:spcPts val="1750"/>
              </a:lnSpc>
              <a:buSzPct val="100000"/>
              <a:buChar char="◦"/>
            </a:pPr>
            <a:r>
              <a:rPr lang="en-US" sz="125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fingerprint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(hash del contenuto)</a:t>
            </a:r>
            <a:endParaRPr lang="en-US" sz="1250" dirty="0"/>
          </a:p>
          <a:p>
            <a:pPr algn="l" lvl="1" marL="685800" indent="-342900">
              <a:lnSpc>
                <a:spcPts val="1750"/>
              </a:lnSpc>
              <a:buSzPct val="100000"/>
              <a:buChar char="◦"/>
            </a:pPr>
            <a:r>
              <a:rPr lang="en-US" sz="125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rows_inserted</a:t>
            </a:r>
            <a:endParaRPr lang="en-US" sz="1250" dirty="0"/>
          </a:p>
          <a:p>
            <a:pPr algn="l" lvl="1" marL="685800" indent="-342900">
              <a:lnSpc>
                <a:spcPts val="1750"/>
              </a:lnSpc>
              <a:buSzPct val="100000"/>
              <a:buChar char="◦"/>
            </a:pPr>
            <a:r>
              <a:rPr lang="en-US" sz="125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:</a:t>
            </a:r>
            <a:endParaRPr lang="en-US" sz="1250" dirty="0"/>
          </a:p>
          <a:p>
            <a:pPr algn="l" lvl="2" marL="1028700" indent="-342900">
              <a:lnSpc>
                <a:spcPts val="1750"/>
              </a:lnSpc>
              <a:buSzPct val="100000"/>
              <a:buChar char="￭"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OK → caricato</a:t>
            </a:r>
            <a:endParaRPr lang="en-US" sz="1250" dirty="0"/>
          </a:p>
          <a:p>
            <a:pPr algn="l" lvl="2" marL="1028700" indent="-342900">
              <a:lnSpc>
                <a:spcPts val="1750"/>
              </a:lnSpc>
              <a:buSzPct val="100000"/>
              <a:buChar char="￭"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SKIP → niente da fare</a:t>
            </a:r>
            <a:endParaRPr lang="en-US" sz="1250" dirty="0"/>
          </a:p>
          <a:p>
            <a:pPr algn="l" lvl="2" marL="1028700" indent="-342900">
              <a:lnSpc>
                <a:spcPts val="1750"/>
              </a:lnSpc>
              <a:buSzPct val="100000"/>
              <a:buChar char="￭"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FAIL → errore</a:t>
            </a:r>
            <a:endParaRPr lang="en-US" sz="1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9865" y="2132290"/>
            <a:ext cx="6298882" cy="377928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9260" y="5885699"/>
            <a:ext cx="13131879" cy="1186577"/>
          </a:xfrm>
          <a:prstGeom prst="roundRect">
            <a:avLst>
              <a:gd name="adj" fmla="val 2030"/>
            </a:avLst>
          </a:prstGeom>
          <a:solidFill>
            <a:srgbClr val="4D17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757" y="6064531"/>
            <a:ext cx="267533" cy="2140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37786" y="6046195"/>
            <a:ext cx="2140982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Perché è importante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1337786" y="6434101"/>
            <a:ext cx="12382857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Permette di capire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cosa è entrato, quando e perché.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Garantisce idempotenza, Evita duplicazioni di dati, facilita il debug e assicura re-run sicuri senza effetti collaterali.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769144"/>
            <a:ext cx="6717149" cy="57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Step 3: Silver = Qualità dei Dati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49260" y="1614011"/>
            <a:ext cx="13131879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Il layer Silver è il baluardo contro i dati non validi: se i dati non superano le validazioni, la pipeline si ferma qui: meglio nessun dato che dati sbagliati.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8175" y="2168843"/>
            <a:ext cx="6711434" cy="40268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4172" y="2612708"/>
            <a:ext cx="4324469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Script: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silver.py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564172" y="2997875"/>
            <a:ext cx="4324469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564172" y="3367802"/>
            <a:ext cx="4324469" cy="739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Pulizia:</a:t>
            </a:r>
            <a:endParaRPr lang="en-US" sz="1300" dirty="0"/>
          </a:p>
          <a:p>
            <a:pPr algn="l" lvl="1" marL="685800" indent="-342900">
              <a:lnSpc>
                <a:spcPts val="1900"/>
              </a:lnSpc>
              <a:buSzPct val="100000"/>
              <a:buChar char="◦"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Cast dei tipi di dato</a:t>
            </a:r>
            <a:endParaRPr lang="en-US" sz="1300" dirty="0"/>
          </a:p>
          <a:p>
            <a:pPr algn="l" lvl="1" marL="685800" indent="-342900">
              <a:lnSpc>
                <a:spcPts val="1900"/>
              </a:lnSpc>
              <a:buSzPct val="100000"/>
              <a:buChar char="◦"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Rimozione di valori null critici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564172" y="4230973"/>
            <a:ext cx="4324469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564172" y="4600900"/>
            <a:ext cx="4324469" cy="986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Validazioni Pandera:</a:t>
            </a:r>
            <a:endParaRPr lang="en-US" sz="1300" dirty="0"/>
          </a:p>
          <a:p>
            <a:pPr algn="l" lvl="1" marL="685800" indent="-342900">
              <a:lnSpc>
                <a:spcPts val="1900"/>
              </a:lnSpc>
              <a:buSzPct val="100000"/>
              <a:buChar char="◦"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Stati ordine ammessi</a:t>
            </a:r>
            <a:endParaRPr lang="en-US" sz="1300" dirty="0"/>
          </a:p>
          <a:p>
            <a:pPr algn="l" lvl="1" marL="685800" indent="-342900">
              <a:lnSpc>
                <a:spcPts val="1900"/>
              </a:lnSpc>
              <a:buSzPct val="100000"/>
              <a:buChar char="◦"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Prezzi ≥ 0</a:t>
            </a:r>
            <a:endParaRPr lang="en-US" sz="1300" dirty="0"/>
          </a:p>
          <a:p>
            <a:pPr algn="l" lvl="1" marL="685800" indent="-342900">
              <a:lnSpc>
                <a:spcPts val="1900"/>
              </a:lnSpc>
              <a:buSzPct val="100000"/>
              <a:buChar char="◦"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Chiavi non nulle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260" y="6264121"/>
            <a:ext cx="13131879" cy="956667"/>
          </a:xfrm>
          <a:prstGeom prst="roundRect">
            <a:avLst>
              <a:gd name="adj" fmla="val 2686"/>
            </a:avLst>
          </a:prstGeom>
          <a:solidFill>
            <a:srgbClr val="4D1529"/>
          </a:solidFill>
          <a:ln/>
        </p:spPr>
      </p:sp>
      <p:sp>
        <p:nvSpPr>
          <p:cNvPr id="11" name="Text 8"/>
          <p:cNvSpPr/>
          <p:nvPr/>
        </p:nvSpPr>
        <p:spPr>
          <a:xfrm>
            <a:off x="920472" y="6435333"/>
            <a:ext cx="2283738" cy="285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Concetto chiave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20472" y="6802879"/>
            <a:ext cx="12789456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Solo dati di alta qualità possono procedere al layer Gold.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929640"/>
            <a:ext cx="6936224" cy="606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Step 4: Gold = Analytics Ready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49260" y="1845588"/>
            <a:ext cx="1313187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Il layer Gold è la destinazione finale per i dati, progettato esclusivamente per l'analisi  e la creazione di dashboard, non per l'ingestione.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49260" y="2428042"/>
            <a:ext cx="6072426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Script: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gold.py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49260" y="2851785"/>
            <a:ext cx="6072426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260" y="3260288"/>
            <a:ext cx="6072426" cy="1346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Costruzione Star Schema:</a:t>
            </a:r>
            <a:endParaRPr lang="en-US" sz="1400" dirty="0"/>
          </a:p>
          <a:p>
            <a:pPr algn="l" lvl="1" marL="685800" indent="-342900">
              <a:lnSpc>
                <a:spcPts val="2100"/>
              </a:lnSpc>
              <a:buSzPct val="100000"/>
              <a:buChar char="◦"/>
            </a:pPr>
            <a:r>
              <a:rPr lang="en-US" sz="140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fact_sales</a:t>
            </a:r>
            <a:endParaRPr lang="en-US" sz="1400" dirty="0"/>
          </a:p>
          <a:p>
            <a:pPr algn="l" lvl="1" marL="685800" indent="-342900">
              <a:lnSpc>
                <a:spcPts val="2100"/>
              </a:lnSpc>
              <a:buSzPct val="100000"/>
              <a:buChar char="◦"/>
            </a:pPr>
            <a:r>
              <a:rPr lang="en-US" sz="140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dim_customers</a:t>
            </a:r>
            <a:endParaRPr lang="en-US" sz="1400" dirty="0"/>
          </a:p>
          <a:p>
            <a:pPr algn="l" lvl="1" marL="685800" indent="-342900">
              <a:lnSpc>
                <a:spcPts val="2100"/>
              </a:lnSpc>
              <a:buSzPct val="100000"/>
              <a:buChar char="◦"/>
            </a:pPr>
            <a:r>
              <a:rPr lang="en-US" sz="140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dim_products</a:t>
            </a:r>
            <a:endParaRPr lang="en-US" sz="1400" dirty="0"/>
          </a:p>
          <a:p>
            <a:pPr algn="l" lvl="1" marL="685800" indent="-342900">
              <a:lnSpc>
                <a:spcPts val="2100"/>
              </a:lnSpc>
              <a:buSzPct val="100000"/>
              <a:buChar char="◦"/>
            </a:pPr>
            <a:r>
              <a:rPr lang="en-US" sz="140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dim_time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260" y="4746182"/>
            <a:ext cx="6072426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260" y="5154685"/>
            <a:ext cx="6072426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Filtri: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vengono inclusi solo ordini "delivered" (consegnati).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260" y="5563189"/>
            <a:ext cx="6072426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260" y="5971692"/>
            <a:ext cx="6072426" cy="553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Include metriche derivate, come il tempo di consegna (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order_delivered_customer_date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- 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order_purchase_timestamp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).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9304" y="2885837"/>
            <a:ext cx="5623084" cy="337375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9260" y="6753576"/>
            <a:ext cx="1313187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Questa struttura ottimizza le performance delle query e facilita la creazione di insight.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762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260" y="3556873"/>
            <a:ext cx="8843248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Orchestrazione, CI &amp; Dashboard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49260" y="4591526"/>
            <a:ext cx="13131879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La Fase 2 non è una semplice pipeline ETL, ma un sistema completo: automatizzato, integrato e osservabile.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49260" y="5174813"/>
            <a:ext cx="214074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749260" y="5508069"/>
            <a:ext cx="4234577" cy="3048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7" name="Text 4"/>
          <p:cNvSpPr/>
          <p:nvPr/>
        </p:nvSpPr>
        <p:spPr>
          <a:xfrm>
            <a:off x="749260" y="5676067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Prefect Flow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49260" y="6161246"/>
            <a:ext cx="4234577" cy="70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Gestione e monitoraggio dei flussi di lavoro tramite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highlight>
                  <a:srgbClr val="6931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main_flows_fase2.py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197912" y="5174813"/>
            <a:ext cx="214074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5197912" y="5508069"/>
            <a:ext cx="4234577" cy="3048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11" name="Text 8"/>
          <p:cNvSpPr/>
          <p:nvPr/>
        </p:nvSpPr>
        <p:spPr>
          <a:xfrm>
            <a:off x="5197912" y="5676067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GitHub Actions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197912" y="6161246"/>
            <a:ext cx="4234577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Esecuzione schedulata, smoke test sul layer Gold.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9646563" y="5174813"/>
            <a:ext cx="214074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9646563" y="5508069"/>
            <a:ext cx="4234577" cy="3048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15" name="Text 12"/>
          <p:cNvSpPr/>
          <p:nvPr/>
        </p:nvSpPr>
        <p:spPr>
          <a:xfrm>
            <a:off x="9646563" y="5676067"/>
            <a:ext cx="2895362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Dashboard Streamlit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646563" y="6161246"/>
            <a:ext cx="4234577" cy="1027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Visualizzazione di KPI chiave, grafici e funzionalità Text-to-SQL AI per l'analisi interattiva.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2026-01-30T14:42:00Z</dcterms:created>
  <dcterms:modified xsi:type="dcterms:W3CDTF">2026-01-30T14:42:00Z</dcterms:modified>
</cp:coreProperties>
</file>